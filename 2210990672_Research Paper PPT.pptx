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017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897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IIFFS — IoT-Based Food Safety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Supply Management System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2448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Sensor, Precision &amp; Traceability Agriculture Framework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7915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Garg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2210990672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43093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Gurpreet Singh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49808"/>
            <a:ext cx="8503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food supply chains rely on manual checks — missing critical real-time spoilage events and contamination.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(Internet of Things) allows continuous, automated collection of sensor data via low-cost embedded nodes across warehouses, transit fleets, and farms.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processes sensor data locally, enabling sub-second anomaly detection and alert generation without cloud dependency.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IIFFS integrates three interconnected pillars: Cold Chain Monitoring, RFID-Blockchain Traceability, and Precision Agriculture IoT — delivering real-time food safety with automated alerts.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spoilage rates, contamination trace time, irrigation water use, disease detection accuracy, and pesticide reduction.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dashboard implemented as a single self-contained HTML file — deployable on GitHub Pages with no server or build process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49808"/>
            <a:ext cx="8503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Crisis: The FAO estimates 1.3 billion tonnes of food wasted annually — one third of global production — due to cold chain failures and supply chain inefficiencies.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Foodborne Illness: WHO reports 600 million people affected and ~420,000 deaths per year from foodborne disease; largely preventable with real-time monitoring.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Cold Chain Checks: Periodic temperature checks miss excursions for 3.8 hours on average — causing spoilage, rejections, and health risk.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Traceability: Contamination investigations take 6–7 days using manual paper records; targeted recalls are impossible without digital custody chains.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Irrigation &amp; Pesticide Use: Fixed-schedule watering and blanket pesticide spraying ignore actual soil moisture and disease presence — wasting water and chemicals.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IIFFS Framework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2743200" cy="8229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7498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Monitoring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591056"/>
            <a:ext cx="2743200" cy="2514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664208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sensors every 30–60s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alert engine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spoilage reduction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749808"/>
            <a:ext cx="2743200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7498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RFID-Blockchain Traceability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0" y="1591056"/>
            <a:ext cx="2743200" cy="2514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1664208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at every custody point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ledger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records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faster trace time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80760" y="749808"/>
            <a:ext cx="274320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7498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IoT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1591056"/>
            <a:ext cx="2743200" cy="2514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1664208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48-cell soil moisture grid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multispectral cameras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disease detection (97%)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water savings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pillars share a common IoT data fabric — sensor anomalies, traceability queries, and agricultural readings interact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 — Cold Chain Monitoring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1115568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IoT nodes deployed across warehouses, transit fleet cargo holds, loading docks, and retail display units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poll temperature &amp; humidity every 30–60 seconds and upload to edge computing nodes via MQTT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apply threshold comparisons locally — alerts fire in &lt;4 minutes vs 3.8 hours with manual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analyses compressor cycles; prevents breakdowns before they cause spoilage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091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Simulation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09160" y="1115568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live sensor nodes across zones (Warehouse, Transit, Dock, Retail) with live temp &amp; humidity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canvas-based temperature history chart with danger threshold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"Trigger Excursion" button simulates a threshold breach — alert fires with timestamp in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5-second sensor drift simulates real device variance across all 12 nodes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80560" y="777240"/>
            <a:ext cx="45720" cy="26517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3520440"/>
            <a:ext cx="1965960" cy="1097280"/>
          </a:xfrm>
          <a:prstGeom prst="rect">
            <a:avLst/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3520440"/>
            <a:ext cx="1965960" cy="54864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290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576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Reduction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68880" y="3520440"/>
            <a:ext cx="1965960" cy="1097280"/>
          </a:xfrm>
          <a:prstGeom prst="rect">
            <a:avLst/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68880" y="3520440"/>
            <a:ext cx="1965960" cy="54864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1460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290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 min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51460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17720" y="3520440"/>
            <a:ext cx="1965960" cy="1097280"/>
          </a:xfrm>
          <a:prstGeom prst="rect">
            <a:avLst/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3520440"/>
            <a:ext cx="1965960" cy="54864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290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34%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66344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Excursions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66560" y="3520440"/>
            <a:ext cx="1965960" cy="1097280"/>
          </a:xfrm>
          <a:prstGeom prst="rect">
            <a:avLst/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3520440"/>
            <a:ext cx="1965960" cy="54864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290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12 → 8%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1228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 — RFID-Blockchain Traceability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74320" y="777240"/>
            <a:ext cx="1261872" cy="77724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36192" y="7772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2608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19072" y="777240"/>
            <a:ext cx="1261872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80944" y="7772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737360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63824" y="777240"/>
            <a:ext cx="1261872" cy="77724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82112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25696" y="7772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82112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08576" y="777240"/>
            <a:ext cx="1261872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6864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0448" y="7772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26864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053328" y="777240"/>
            <a:ext cx="1261872" cy="77724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71616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7772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71616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498080" y="777240"/>
            <a:ext cx="1261872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16368" y="77724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516368" y="1591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transfer written to Hyperledger Fabric blockchain — immutable, auditable, traceable in seconds ←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0040" y="2286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20040" y="260604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 at every custody handover point record timestamps, handler IDs, and environmental readings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written to Hyperledger Fabric permissioned blockchain — immutable, tamper-proof audit trail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IBM Food Trust benchmark: trace time 6.5 days → 2.2 seconds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FSMA 2026 traceability mandate driving industry adoption of electronic lot tracking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480560" y="2286000"/>
            <a:ext cx="45720" cy="2377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9160" y="2286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Simulation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709160" y="260604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6-step custody chain trace with live blockchain event logging per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"Simulate Recall Event" — demonstrates lot-level targeted recall resolved in &lt;3 seconds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blockchain ledger auto-populates RFID scan events every 8 seconds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panel shows exact lot affected vs broad precautionary recall — cost savings $10M+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III — Precision Agriculture IoT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109728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48-cell field grid with soil moisture sensors polling every 15 minutes across North, East, South, West zones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Variable-rate irrigation controllers adjust dynamically to real-time moisture — no fixed calendar schedules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integration withholds irrigation when rain is predicted within 6 hours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tomato farm trial: 31% irrigation reduction with zero yield drop — 30% target demonstrated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777240"/>
            <a:ext cx="45720" cy="26517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Disease Detection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109728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Multispectral cameras on UAVs or stationary field posts capture images at defined intervals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LSTM+CNN classifier trained on labelled disease datasets achieves 95–98% detection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targeted GPS-coordinated alerts — eliminates broad-spectrum pesticide spraying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blight study: 22% fungicide reduction vs calendar-based uniform application schedules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3520440"/>
            <a:ext cx="1965960" cy="1097280"/>
          </a:xfrm>
          <a:prstGeom prst="rect">
            <a:avLst/>
          </a:prstGeom>
          <a:solidFill>
            <a:srgbClr val="F0FFF5"/>
          </a:solidFill>
          <a:ln w="12700">
            <a:solidFill>
              <a:srgbClr val="F0FF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3520440"/>
            <a:ext cx="196596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2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576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68880" y="3520440"/>
            <a:ext cx="1965960" cy="1097280"/>
          </a:xfrm>
          <a:prstGeom prst="rect">
            <a:avLst/>
          </a:prstGeom>
          <a:solidFill>
            <a:srgbClr val="F0FFF5"/>
          </a:solidFill>
          <a:ln w="12700">
            <a:solidFill>
              <a:srgbClr val="F0FF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68880" y="3520440"/>
            <a:ext cx="196596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1460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2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25%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51460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Cut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17720" y="3520440"/>
            <a:ext cx="1965960" cy="1097280"/>
          </a:xfrm>
          <a:prstGeom prst="rect">
            <a:avLst/>
          </a:prstGeom>
          <a:solidFill>
            <a:srgbClr val="F0FFF5"/>
          </a:solidFill>
          <a:ln w="12700">
            <a:solidFill>
              <a:srgbClr val="F0FF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3520440"/>
            <a:ext cx="196596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2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97%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66344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Accuracy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66560" y="3520440"/>
            <a:ext cx="1965960" cy="1097280"/>
          </a:xfrm>
          <a:prstGeom prst="rect">
            <a:avLst/>
          </a:prstGeom>
          <a:solidFill>
            <a:srgbClr val="F0FFF5"/>
          </a:solidFill>
          <a:ln w="12700">
            <a:solidFill>
              <a:srgbClr val="F0FF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3520440"/>
            <a:ext cx="196596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36027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2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15–20%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1228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Shelf Life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Data flows upward through layers — sensor → edge → cloud → dashboard  ▼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143000"/>
            <a:ext cx="2194560" cy="804672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1887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Perception / Sensor Layer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32888" y="1143000"/>
            <a:ext cx="6309360" cy="80467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32888" y="1143000"/>
            <a:ext cx="54864" cy="804672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118872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(SHT31)  |  Temp/Humidity (DHT22)  |  RFID Readers (UHF Gen2)  |  UAV Cameras (Multispectral)  |  Cold Chain Temp (DS18B20)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148840"/>
            <a:ext cx="219456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194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Edge Processing Layer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32888" y="2148840"/>
            <a:ext cx="6309360" cy="804672"/>
          </a:xfrm>
          <a:prstGeom prst="rect">
            <a:avLst/>
          </a:prstGeom>
          <a:solidFill>
            <a:srgbClr val="F2F8FF"/>
          </a:solidFill>
          <a:ln w="12700">
            <a:solidFill>
              <a:srgbClr val="F2F8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32888" y="2148840"/>
            <a:ext cx="54864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219456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/ Jetson Nano  |  TensorFlow Lite ML Model  |  MQTT Broker (Mosquitto)  |  Anomaly Detection Engine  |  Blockchain Client Node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3154680"/>
            <a:ext cx="2194560" cy="80467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2004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Cloud &amp; Application Layer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32888" y="3154680"/>
            <a:ext cx="6309360" cy="804672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32888" y="3154680"/>
            <a:ext cx="54864" cy="80467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51760" y="32004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/ Azure IoT Hub  |  InfluxDB Time-Series DB  |  Hyperledger Fabric Blockchain  |  IIFFS Dashboard (HTML5)  |  SMS/Email Alert System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" y="41879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(QoS 2)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sensor to edge, &lt;5ms latency    </a:t>
            </a: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wearable sensor pairing    </a:t>
            </a: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REST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push (AES-256)    </a:t>
            </a: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rural/remote fallback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Results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74320" y="777240"/>
            <a:ext cx="2907792" cy="384048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77724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777240"/>
            <a:ext cx="2084832" cy="384048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73552" y="77724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0096" y="777240"/>
            <a:ext cx="2084832" cy="384048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77724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(IIFFS)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61504" y="777240"/>
            <a:ext cx="1627632" cy="384048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77724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1188720"/>
            <a:ext cx="290779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" y="118872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Spoilage Rate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18688" y="1188720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73552" y="11887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average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40096" y="1188720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94960" y="11887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average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61504" y="1188720"/>
            <a:ext cx="16276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16368" y="11887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1728216"/>
            <a:ext cx="2907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" y="1728216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Excursion Detection Time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18688" y="1728216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73552" y="1728216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hours (avg)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40096" y="1728216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1728216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minutes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461504" y="1728216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16368" y="172821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−97%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74320" y="2267712"/>
            <a:ext cx="290779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9184" y="226771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Trace Time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18688" y="2267712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73552" y="226771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days (paper)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340096" y="2267712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94960" y="226771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hours (RFID)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61504" y="2267712"/>
            <a:ext cx="16276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16368" y="226771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−97%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74320" y="2807208"/>
            <a:ext cx="2907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9184" y="280720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Water Use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218688" y="2807208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73552" y="28072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340096" y="2807208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28072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reduction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461504" y="2807208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16368" y="2807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saved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74320" y="3346704"/>
            <a:ext cx="290779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9184" y="3346704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Lead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218688" y="3346704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73552" y="33467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symptoms only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340096" y="3346704"/>
            <a:ext cx="20848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94960" y="33467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 hrs early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461504" y="3346704"/>
            <a:ext cx="1627632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16368" y="334670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alert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274320" y="3886200"/>
            <a:ext cx="2907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9184" y="38862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Input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218688" y="3886200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73552" y="38862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application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340096" y="3886200"/>
            <a:ext cx="20848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394960" y="38862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treatment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7461504" y="3886200"/>
            <a:ext cx="162763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516368" y="38862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Wang et al. 2020 | IBM Food Trust 2019 | FAO 2019 | Wolfert et al. 2017 | Kamilaris &amp; Prenafeta-Boldu 2018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109728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complete 3-pillar IoT simulation framework for real-time food safety and supply chain monitoring.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IoT reduces excursion detection time by 97% (3.8 hrs → &lt;4 min) and spoilage by 30%.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RFID-Blockchain traceability cuts contamination trace time from 6.5 days to seconds — enabling targeted recalls.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IoT saves 30% irrigation water and 25% pesticide inputs through sensor-guided application.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successfully simulates all three pillars in a single deployable HTML file — publicly accessible on GitHub.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777240"/>
            <a:ext cx="45720" cy="29718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109728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food companies for privacy-preserving collaborative spoilage prediction models.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of supply chains to simulate routes, storage configs, and forecast food availability.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NR integration for ultra-low latency real-time visual quality inspection on production lines.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immutable audit trail for tamper-proof food safety certification records.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nanosensors for pathogen detection in minutes — replacing hours-long lab testing.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8503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Food and Agriculture Organization (FAO). The State of Food and Agriculture: Moving Forward on Food Loss and Waste Reduction. FAO, Rome, 2019.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World Health Organization (WHO). Food Safety Fact Sheet. WHO, Geneva, 2022.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X. Wang, D. Li, and M. O'Brien. "IoT-based wireless sensor networks for intelligent cold chain management," IEEE Access, vol. 8, pp. 115648–115661, 2020.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K. Tsang et al. "An IoT-based tag system for perishable food traceability in cold chain," IEEE ISCAS, Florence, 2018.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IBM Corporation. IBM Food Trust: Smarter Food Safety from Farm to Fork. IBM, Armonk, NY, 2019.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S. Wolfert et al. "Big data in smart farming — a review," Agricultural Systems, vol. 153, pp. 69–80, 2017.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A. Kamilaris and F. X. Prenafeta-Boldu. "Deep learning in agriculture," Computers and Electronics in Agriculture, vol. 147, pp. 70–90, 2018.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Y. Bouzembrak et al. "Internet of Things in food safety," Trends in Food Science &amp; Technology, vol. 94, pp. 54–64, 2019.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FDA. Food Safety Modernization Act — FSMA 2026 Traceability Rule. U.S. FDA, 2022.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Deloitte Insights. Digital Transformation in the Food &amp; Beverage Industry: IoT Adoption Survey. Deloitte, 2023.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8288"/>
            <a:ext cx="22128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4864"/>
            <a:ext cx="210312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290B"/>
          </a:solidFill>
          <a:ln w="12700">
            <a:solidFill>
              <a:srgbClr val="E829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920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1602</Words>
  <Application>Microsoft Office PowerPoint</Application>
  <PresentationFormat>On-screen Show (16:9)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IIFFS — IoT-Based Food Safety &amp; Supply Management</dc:title>
  <dc:subject>PptxGenJS Presentation</dc:subject>
  <dc:creator>Pratham Garg</dc:creator>
  <cp:lastModifiedBy>Pratham Garg</cp:lastModifiedBy>
  <cp:revision>2</cp:revision>
  <dcterms:created xsi:type="dcterms:W3CDTF">2026-04-29T02:39:40Z</dcterms:created>
  <dcterms:modified xsi:type="dcterms:W3CDTF">2026-04-29T02:44:24Z</dcterms:modified>
</cp:coreProperties>
</file>